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1T13:29:11.0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1030 8192,'4'0'1083,"1"1"-1,0 0 1,0 0 0,-1 1 0,1-1 0,-1 1 0,1 0-1,-1 0 1,7 5 0,3 1-443,32 15-640,124 69 0,-136-71 0,-1 2 0,57 50 0,-85-68 0,-1-1 0,1-1 0,0 1 0,0-1 0,0 1 0,1-2 0,-1 1 0,1 0 0,-1-1 0,7 2 0,-8-4 0,-1 1 0,1-1 0,0 1 0,0-1 0,-1 0 0,1 0 0,0-1 0,0 1 0,-1-1 0,1 0 0,0 0 0,-1 0 0,1 0 0,-1-1 0,1 1 0,-1-1 0,4-3 0,5-3-542,0-2 0,-1 0-1,0 0 1,-1-1 0,17-23-1,40-70-4294,-41 60 4109,46-76-597,96-223 1,-60 114 1324,-50 112 0,-42 84 288,1 0 0,1 1-1,2 1 1,47-57 0,-58 80-170,0-1 0,1 1 0,39-22 9557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1T13:29:13.7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1106 8192,'0'4'1287,"1"1"1,-1-1 0,1 0 0,0 1-1,3 6 1,11 22 2262,-12-25-3358,0-2-192,0 0 0,0 0 0,1 0 0,0-1 0,0 1 0,0-1 0,0 0 0,1 0 0,0 0 0,0-1 0,6 5 0,-6-6 0,0-1 0,0 1 0,0-1 0,0 0 0,0-1 0,1 1 0,-1-1 0,0 0 0,1-1 0,-1 1 0,1-1 0,-1 0 0,0 0 0,9-2 0,-2 0-354,0-1-1,1 0 0,-2-1 1,1 0-1,0-1 1,-1 0-1,0-1 0,14-10 1,8-8-1973,37-34 0,-33 23 1555,-2-1 0,55-74-1,48-93-475,-105 152 1190,41-66 58,-4-4 0,64-156 0,-120 247 1888,1 1 1,1 0 0,2 1-1,22-28 1,-31 44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1T13:29:16.7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1101 8192,'4'4'1481,"1"0"1,0-1-1,0 0 1,-1 0-1,2-1 0,7 4 1,5 2-384,22 11-1098,1-2 0,61 15 0,-62-20 0,-5 2 0,-24-10 0,0 1 0,21 4 0,-28-9 0,-1 1 0,1-1 0,-1 1 0,1-1 0,-1-1 0,1 1 0,-1 0 0,1-1 0,-1 0 0,1 0 0,-1 0 0,1 0 0,5-3 0,1-2-241,1-1 0,-1 0 0,0-1 0,-1 0 0,10-11 0,40-50-1281,-57 67 1519,46-64-2575,46-82-1,-14 19-320,-49 83 2558,13-19 291,55-107 0,-98 170 50,7-18 0,1 1 0,1 0 0,1 1 0,0 0 0,1 1 0,21-23 0,42-40 3487,10-10 2483,-68 75-5977,30-21 0,-45 34-783,35-24-5385,-20 14 5986,0-1 0,42-45 9557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1T13:34:21.1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1 629 8192,'101'87'9183,"-23"-21"-6898,231 255-2285,-75-62-816,-228-252 1149,-3-2-231,1-1 1,0 0-1,0 0 0,8 6 1,-11-9-105,0 0 1,1 0 0,-1 0 0,0-1-1,1 1 1,-1 0 0,1-1 0,-1 0 0,1 1-1,-1-1 1,1 0 0,-1 0 0,1 1-1,-1-1 1,1 0 0,0-1 0,-1 1-1,1 0 1,-1 0 0,1-1 0,-1 1-1,3-2 1,2-1 15,1 0 0,-1-1 0,0 0-1,0-1 1,0 1 0,-1-1 0,0 0-1,7-9 1,37-53-196,-26 32-319,51-66-1884,47-69 2468,-52 66 2121,106-128-4728,-64 112 5023,-31 39-7703,119-93-1,-139 131 5044,3 4 0,73-35-1,-12 7 3065,-113 60-1664,1 0 0,0 1 0,0 1 0,0 0 0,1 1-1,20-5 1,-9 6-1239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1T13:51:06.7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1 819 8192,'3'1'730,"1"0"1,-1 0 0,1 1-1,-1 0 1,0-1-1,0 1 1,1 0 0,-1 1-1,-1-1 1,1 0-1,0 1 1,0 0 0,-1-1-1,3 5 1,4 2-222,8 7-509,-2 1 0,0 0 0,0 2 0,-2-1 0,13 24 0,-20-33 0,0 0 0,0 0 0,1-1 0,0 0 0,1 0 0,0 0 0,0-1 0,0-1 0,1 1 0,0-1 0,19 9 0,-4 2 0,-19-13 0,0 0 0,1-1 0,-1 1 0,1-1 0,7 3 0,-11-6 0,0 1 0,0 0 0,0-1 0,0 0 0,0 0 0,0 1 0,1-1 0,-1 0 0,0-1 0,0 1 0,0 0 0,0-1 0,0 1 0,0-1 0,0 1 0,0-1 0,0 0 0,0 0 0,0 0 0,2-2 0,20-13-521,-1-2 0,-1-1 0,37-40-1,51-77-3884,-77 92 3161,1 1 1,3 2 0,54-48 0,-59 60 1672,45-51 1,-10 9-727,238-216-261,-288 272 2913,0 1 1,22-13 0,15-13 2049,-50 35-4404,1-1 0,-1 1 0,0-1 0,0 0 0,-1 0 0,0 0 0,0-1 0,4-11 0,-3 7 0,4-9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1T13:51:09.4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1 953 8192,'55'27'9831,"0"0"-7117,98 49-4350,-145-71-147,1 1 1,-1 0-1,0 0 1,11 13-1,-9-9 2114,-9-9 201,1 1 0,-1-1 0,1 0 0,-1 0 0,0 0 0,1 0 0,0-1 0,-1 1 0,1 0 1,0 0-1,-1-1 0,1 1 0,0-1 0,3 1 0,-3-1-384,0-1 0,0 1 1,1 0-1,-1 0 0,0-1 0,0 0 0,0 1 0,1-1 1,-1 0-1,2-1 0,5-4-791,-1 1 1,0-1-1,-1-1 1,10-10-1,-12 12 590,23-25-1186,-3-2 0,0-1 0,-2 0 0,-2-2 0,-1-1 1,30-75-1,-25 40 1239,-17 45 0,1 0 0,23-46 0,63-75 0,21-38 0,-108 171 58,2 0 0,-1 0 1,2 1-1,0 0 0,20-17 0,-7 9 1131,53-36 0,-55 43 2710,12-8-11,0 2-3716,12 0-8947,-23 14 6864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05:58:43.2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8192,'0'0'0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06:34:12.5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1013 8192,'16'19'1902,"0"0"1,-1 1 0,-1 1 0,14 26-1,26 38 53,62 57-1955,24 32 0,-139-172 0,0-1 0,0 0 0,0 1 0,0-1 0,0 0 0,0 0 0,0 0 0,0 0 0,1 0 0,-1 0 0,0 0 0,1 0 0,-1 0 0,1-1 0,-1 1 0,0-1 0,1 1 0,0-1 0,1 1 0,-2-1 0,0 0 0,1-1 0,-1 1 0,0 0 0,0-1 0,1 1 0,-1 0 0,0-1 0,0 0 0,0 1 0,0-1 0,1 0 0,-1 0 0,0 1 0,0-1 0,-1 0 0,1 0 0,1-2 0,3-4 0,0 0 0,-1 0 0,0 0 0,-1-1 0,0 0 0,3-10 0,43-205 0,-12 44 0,73-182-9261,-93 324 8828,1 1-1,2 1 1,1 0-1,49-58 1,-51 68 393,7-7 40,1 2 0,1 1 0,1 2 0,40-29 0,139-85 0,-208 141 0,57-32 529,100-42 1,-135 64-535,-7 5 671,-1 0 0,19-4 0,-6 3 5725,-1 3-4502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07:01:16.4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1114 8192,'119'110'6427,"-45"-43"-3906,68 81-1,-116-115-2520,40 70 0,-45-69 0,-10-17 0,0-1 0,1 0 0,1-1 0,24 22 0,-36-36 0,-1 0 0,2 0 0,-1 0 0,0 0 0,0 0 0,0-1 0,0 1 0,0 0 0,0-1 0,1 1 0,-1-1 0,0 0 0,1 1 0,-1-1 0,0 0 0,1 0 0,-1 0 0,0 1 0,1-1 0,-1-1 0,0 1 0,1 0 0,-1 0 0,0 0 0,1-1 0,-1 1 0,0-1 0,0 1 0,1-1 0,-1 1 0,1-2 0,3-2 0,0 0 0,-1 0 0,0-1 0,0 1 0,6-10 0,-10 14 0,31-47-939,45-88 0,11-59-2780,-23 50 1471,92-171-295,-108 228 2003,91-122 0,-111 176 837,1 1 0,1 1 0,1 2 0,49-35 0,149-85 1189,-149 101 528,2 4 1,2 4 0,95-32 0,-157 65-1577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22C3E79-63E1-40B5-9970-B4B38E9F7EB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189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375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962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273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613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947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451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275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208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238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2570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0629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1669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9049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7455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122C3E79-63E1-40B5-9970-B4B38E9F7EB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062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122C3E79-63E1-40B5-9970-B4B38E9F7EB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639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22C3E79-63E1-40B5-9970-B4B38E9F7EB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220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7.png"/><Relationship Id="rId18" Type="http://schemas.openxmlformats.org/officeDocument/2006/relationships/customXml" Target="../ink/ink9.xml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customXml" Target="../ink/ink6.xml"/><Relationship Id="rId17" Type="http://schemas.openxmlformats.org/officeDocument/2006/relationships/image" Target="../media/image9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10" Type="http://schemas.openxmlformats.org/officeDocument/2006/relationships/customXml" Target="../ink/ink5.xml"/><Relationship Id="rId19" Type="http://schemas.openxmlformats.org/officeDocument/2006/relationships/image" Target="../media/image10.png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14" Type="http://schemas.openxmlformats.org/officeDocument/2006/relationships/customXml" Target="../ink/ink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93E10248-AF0E-477D-B4D2-47C02CE4E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33010C2-2DA5-460F-A40C-5317F567A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5" name="Freeform 5">
              <a:extLst>
                <a:ext uri="{FF2B5EF4-FFF2-40B4-BE49-F238E27FC236}">
                  <a16:creationId xmlns:a16="http://schemas.microsoft.com/office/drawing/2014/main" id="{17CB0634-F963-4EC9-A6F6-8EA46BD1F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73C0A186-7444-4460-9C37-532E7671E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1ECA4FE-7D2F-4576-B767-3A5F5ABFE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48" name="Rectangle 47">
              <a:extLst>
                <a:ext uri="{FF2B5EF4-FFF2-40B4-BE49-F238E27FC236}">
                  <a16:creationId xmlns:a16="http://schemas.microsoft.com/office/drawing/2014/main" id="{5969441E-5462-4859-86CD-1737FDE360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596BD4B5-6833-40CC-96FE-EDC6756342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A00AD0E-B8D2-490F-8BE8-74AE27121C95}"/>
              </a:ext>
            </a:extLst>
          </p:cNvPr>
          <p:cNvSpPr txBox="1"/>
          <p:nvPr/>
        </p:nvSpPr>
        <p:spPr>
          <a:xfrm>
            <a:off x="1683171" y="1169773"/>
            <a:ext cx="8825658" cy="28701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5400" u="sng">
                <a:latin typeface="+mj-lt"/>
                <a:ea typeface="+mj-ea"/>
                <a:cs typeface="+mj-cs"/>
              </a:rPr>
              <a:t>ElectroHub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81F53E2-F556-42FA-8D24-113839EE1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58249" y="4166888"/>
            <a:ext cx="675502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6927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F78DAAE-B0C3-49A3-8AB1-AD2FF0E36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A8A81D-3338-4B0F-A26F-A3D259D27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801794"/>
            <a:ext cx="11000237" cy="52482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155665-7CE2-4939-AE5E-020DC1D20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0FAA0EC-FB17-D52E-204F-2D1A90843F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431545"/>
              </p:ext>
            </p:extLst>
          </p:nvPr>
        </p:nvGraphicFramePr>
        <p:xfrm>
          <a:off x="2699074" y="1284394"/>
          <a:ext cx="6889021" cy="42830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89021">
                  <a:extLst>
                    <a:ext uri="{9D8B030D-6E8A-4147-A177-3AD203B41FA5}">
                      <a16:colId xmlns:a16="http://schemas.microsoft.com/office/drawing/2014/main" val="3587176226"/>
                    </a:ext>
                  </a:extLst>
                </a:gridCol>
              </a:tblGrid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Electronics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220928847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Footwear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623745574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Clothing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888959131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Home Appliances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614325287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Accessories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824281318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Kitchenware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545064344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Bags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597557471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Personal Care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2617950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5740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4C7B80-E2A1-F7C6-AE89-CBA342DCC72D}"/>
              </a:ext>
            </a:extLst>
          </p:cNvPr>
          <p:cNvSpPr txBox="1"/>
          <p:nvPr/>
        </p:nvSpPr>
        <p:spPr>
          <a:xfrm>
            <a:off x="560438" y="727587"/>
            <a:ext cx="94488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  <a:t>1) Top/Bottom 5 product by Sales/Profit/Quantity Sold.</a:t>
            </a:r>
            <a:b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  <a:t>2) </a:t>
            </a: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How do sales trends vary over time </a:t>
            </a:r>
            <a: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  <a:t>(daily, monthly, quarterly, annually) </a:t>
            </a: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?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3) Show relationship between sales &amp; profit.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4) Compare sales/profit/quantity sold between any two periods selected by the user.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5) Average discount offered in each discount category.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6) Total number of orders.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7) Show Sales/Profit/Discount/Net Sales/All remaining fields for each order that could be filtered using visual filters. (Product/Date/Customer ID/Promotion Categories)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8) Show sales by different cities.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endParaRPr lang="en-IN" sz="28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8F36FC-8C34-587D-C16D-AC52A0558251}"/>
              </a:ext>
            </a:extLst>
          </p:cNvPr>
          <p:cNvSpPr/>
          <p:nvPr/>
        </p:nvSpPr>
        <p:spPr>
          <a:xfrm>
            <a:off x="8072284" y="727587"/>
            <a:ext cx="530942" cy="4031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8B9BFB-1B58-F24A-72D0-E13D3B8CAA06}"/>
              </a:ext>
            </a:extLst>
          </p:cNvPr>
          <p:cNvSpPr/>
          <p:nvPr/>
        </p:nvSpPr>
        <p:spPr>
          <a:xfrm>
            <a:off x="9611032" y="1130710"/>
            <a:ext cx="530942" cy="4031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D6E450-8578-684D-B27A-4F4691C2265F}"/>
              </a:ext>
            </a:extLst>
          </p:cNvPr>
          <p:cNvSpPr/>
          <p:nvPr/>
        </p:nvSpPr>
        <p:spPr>
          <a:xfrm>
            <a:off x="6096000" y="1607574"/>
            <a:ext cx="530942" cy="4031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539C25-2D16-31BB-D208-B28A6EF7676A}"/>
              </a:ext>
            </a:extLst>
          </p:cNvPr>
          <p:cNvSpPr/>
          <p:nvPr/>
        </p:nvSpPr>
        <p:spPr>
          <a:xfrm>
            <a:off x="9743767" y="2182761"/>
            <a:ext cx="530942" cy="4031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84F922-80B7-F19A-F121-ED56CA9E141D}"/>
              </a:ext>
            </a:extLst>
          </p:cNvPr>
          <p:cNvSpPr/>
          <p:nvPr/>
        </p:nvSpPr>
        <p:spPr>
          <a:xfrm>
            <a:off x="7054645" y="2905432"/>
            <a:ext cx="530942" cy="4031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FD0EBC-C56C-7D56-EEA3-A137E5629217}"/>
              </a:ext>
            </a:extLst>
          </p:cNvPr>
          <p:cNvSpPr/>
          <p:nvPr/>
        </p:nvSpPr>
        <p:spPr>
          <a:xfrm>
            <a:off x="3824748" y="3308555"/>
            <a:ext cx="530942" cy="4031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DE6F64-3F27-8301-8D1B-4249F0634F68}"/>
              </a:ext>
            </a:extLst>
          </p:cNvPr>
          <p:cNvSpPr/>
          <p:nvPr/>
        </p:nvSpPr>
        <p:spPr>
          <a:xfrm>
            <a:off x="10028902" y="4070555"/>
            <a:ext cx="530942" cy="4031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F6FC30-0AA3-972A-8423-79FC8C4C0BDF}"/>
              </a:ext>
            </a:extLst>
          </p:cNvPr>
          <p:cNvSpPr/>
          <p:nvPr/>
        </p:nvSpPr>
        <p:spPr>
          <a:xfrm>
            <a:off x="4596580" y="5039033"/>
            <a:ext cx="530942" cy="4031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F0DE230-7849-D304-8295-21629D667893}"/>
                  </a:ext>
                </a:extLst>
              </p14:cNvPr>
              <p14:cNvContentPartPr/>
              <p14:nvPr/>
            </p14:nvContentPartPr>
            <p14:xfrm>
              <a:off x="8189795" y="602756"/>
              <a:ext cx="492840" cy="4784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F0DE230-7849-D304-8295-21629D66789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72155" y="584756"/>
                <a:ext cx="528480" cy="51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B0B1A9A-B8C3-EB61-14D6-26DAB39CA48E}"/>
                  </a:ext>
                </a:extLst>
              </p14:cNvPr>
              <p14:cNvContentPartPr/>
              <p14:nvPr/>
            </p14:nvContentPartPr>
            <p14:xfrm>
              <a:off x="9763355" y="929276"/>
              <a:ext cx="400680" cy="4561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B0B1A9A-B8C3-EB61-14D6-26DAB39CA48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45715" y="911276"/>
                <a:ext cx="436320" cy="49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223E99D-89C8-7AA5-6FB2-97CB2E422D4C}"/>
                  </a:ext>
                </a:extLst>
              </p14:cNvPr>
              <p14:cNvContentPartPr/>
              <p14:nvPr/>
            </p14:nvContentPartPr>
            <p14:xfrm>
              <a:off x="6312035" y="1550276"/>
              <a:ext cx="505800" cy="4492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223E99D-89C8-7AA5-6FB2-97CB2E422D4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94035" y="1532636"/>
                <a:ext cx="541440" cy="48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441F14E-18AA-6855-3E5D-09A40F49BE71}"/>
                  </a:ext>
                </a:extLst>
              </p14:cNvPr>
              <p14:cNvContentPartPr/>
              <p14:nvPr/>
            </p14:nvContentPartPr>
            <p14:xfrm>
              <a:off x="7196915" y="2801636"/>
              <a:ext cx="815040" cy="5058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441F14E-18AA-6855-3E5D-09A40F49BE7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179275" y="2783636"/>
                <a:ext cx="850680" cy="54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01D7056-E6AB-B9E5-AE4E-EA59B60D7315}"/>
                  </a:ext>
                </a:extLst>
              </p14:cNvPr>
              <p14:cNvContentPartPr/>
              <p14:nvPr/>
            </p14:nvContentPartPr>
            <p14:xfrm>
              <a:off x="3952235" y="3224996"/>
              <a:ext cx="528840" cy="4086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01D7056-E6AB-B9E5-AE4E-EA59B60D731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934595" y="3207356"/>
                <a:ext cx="564480" cy="44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6001723-96B0-E773-586E-D4C0FDF19DC7}"/>
                  </a:ext>
                </a:extLst>
              </p14:cNvPr>
              <p14:cNvContentPartPr/>
              <p14:nvPr/>
            </p14:nvContentPartPr>
            <p14:xfrm>
              <a:off x="4837475" y="4897556"/>
              <a:ext cx="450000" cy="4132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6001723-96B0-E773-586E-D4C0FDF19DC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819835" y="4879556"/>
                <a:ext cx="485640" cy="44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BBE8C01D-17B8-6211-8AED-97C0D42A6164}"/>
                  </a:ext>
                </a:extLst>
              </p14:cNvPr>
              <p14:cNvContentPartPr/>
              <p14:nvPr/>
            </p14:nvContentPartPr>
            <p14:xfrm>
              <a:off x="5407715" y="3794876"/>
              <a:ext cx="360" cy="3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BBE8C01D-17B8-6211-8AED-97C0D42A616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390075" y="3777236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8360A34B-CFB3-6D29-7813-3B8C9A6B1836}"/>
                  </a:ext>
                </a:extLst>
              </p14:cNvPr>
              <p14:cNvContentPartPr/>
              <p14:nvPr/>
            </p14:nvContentPartPr>
            <p14:xfrm>
              <a:off x="9851555" y="2024756"/>
              <a:ext cx="568440" cy="5612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8360A34B-CFB3-6D29-7813-3B8C9A6B183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833915" y="2007116"/>
                <a:ext cx="604080" cy="59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A6C7142-8606-6F16-9A7D-4663B5D98C79}"/>
                  </a:ext>
                </a:extLst>
              </p14:cNvPr>
              <p14:cNvContentPartPr/>
              <p14:nvPr/>
            </p14:nvContentPartPr>
            <p14:xfrm>
              <a:off x="10097435" y="3866156"/>
              <a:ext cx="748800" cy="6195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A6C7142-8606-6F16-9A7D-4663B5D98C7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079435" y="3848156"/>
                <a:ext cx="784440" cy="65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522312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1135</TotalTime>
  <Words>143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Aparajita</vt:lpstr>
      <vt:lpstr>Arial</vt:lpstr>
      <vt:lpstr>Calibri</vt:lpstr>
      <vt:lpstr>Century Gothic</vt:lpstr>
      <vt:lpstr>Wingdings 3</vt:lpstr>
      <vt:lpstr>Ion Boardroom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 Git</dc:creator>
  <cp:lastModifiedBy>meghanabisht02@gmail.com</cp:lastModifiedBy>
  <cp:revision>37</cp:revision>
  <dcterms:created xsi:type="dcterms:W3CDTF">2024-07-03T21:35:18Z</dcterms:created>
  <dcterms:modified xsi:type="dcterms:W3CDTF">2026-06-12T07:01:19Z</dcterms:modified>
</cp:coreProperties>
</file>